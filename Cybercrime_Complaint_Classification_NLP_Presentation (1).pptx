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3E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1508760"/>
            <a:ext cx="1097280" cy="1097280"/>
          </a:xfrm>
          <a:prstGeom prst="ellipse">
            <a:avLst/>
          </a:prstGeom>
          <a:solidFill>
            <a:srgbClr val="53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731520" cy="731520"/>
          </a:xfrm>
          <a:prstGeom prst="ellipse">
            <a:avLst/>
          </a:prstGeom>
          <a:solidFill>
            <a:srgbClr val="F5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58368"/>
            <a:ext cx="214884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7512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NLP +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8138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BF2FA"/>
                </a:solidFill>
                <a:latin typeface="Aptos"/>
              </a:rPr>
              <a:t>Cybercrime Complaint
Category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BABBF"/>
                </a:solidFill>
                <a:latin typeface="Aptos"/>
              </a:rPr>
              <a:t>Using Natural Language Processing and 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5715000" cy="141732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BABBF"/>
                </a:solidFill>
                <a:latin typeface="Aptos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096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BF2FA"/>
                </a:solidFill>
                <a:latin typeface="Aptos"/>
              </a:rPr>
              <a:t>Abhin Krishna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BABBF"/>
                </a:solidFill>
                <a:latin typeface="Aptos"/>
              </a:rPr>
              <a:t>Course /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526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Data Science / 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0690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BABBF"/>
                </a:solidFill>
                <a:latin typeface="Aptos"/>
              </a:rPr>
              <a:t>Institution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40740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Trycod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8920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BABBF"/>
                </a:solidFill>
                <a:latin typeface="Aptos"/>
              </a:rPr>
              <a:t>Guide / Mentor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2303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Faizal / Fathima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08076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ED2B4"/>
                </a:solidFill>
                <a:latin typeface="Aptos"/>
              </a:rPr>
              <a:t>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Why automated complaint categorization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86400" cy="452628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169164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9344"/>
            <a:ext cx="1691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BF2FA"/>
                </a:solidFill>
                <a:latin typeface="Aptos"/>
              </a:rPr>
              <a:t>Cybercrime complaints are often submitted as unstructured text. Manually reading and categorizing a large volume of complaints can be time-consuming and inconsistent.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48920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BABBF"/>
                </a:solidFill>
                <a:latin typeface="Aptos"/>
              </a:rPr>
              <a:t>A machine-learning system can analyze the complaint text and predict a relevant cybercrime category for initial routing and organization.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12080" cy="452628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600200"/>
            <a:ext cx="1143000" cy="329184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934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BF2FA"/>
                </a:solidFill>
                <a:latin typeface="Aptos"/>
              </a:defRPr>
            </a:pPr>
            <a:r>
              <a:t>• Clean and transform complaint text using NLP.</a:t>
            </a:r>
          </a:p>
          <a:p>
            <a:pPr>
              <a:spcAft>
                <a:spcPts val="900"/>
              </a:spcAft>
              <a:defRPr sz="1500">
                <a:solidFill>
                  <a:srgbClr val="EBF2FA"/>
                </a:solidFill>
                <a:latin typeface="Aptos"/>
              </a:defRPr>
            </a:pPr>
            <a:r>
              <a:t>• Extract meaningful text features using TF-IDF and engineered features.</a:t>
            </a:r>
          </a:p>
          <a:p>
            <a:pPr>
              <a:spcAft>
                <a:spcPts val="900"/>
              </a:spcAft>
              <a:defRPr sz="1500">
                <a:solidFill>
                  <a:srgbClr val="EBF2FA"/>
                </a:solidFill>
                <a:latin typeface="Aptos"/>
              </a:defRPr>
            </a:pPr>
            <a:r>
              <a:t>• Train and compare multiple classification models.</a:t>
            </a:r>
          </a:p>
          <a:p>
            <a:pPr>
              <a:spcAft>
                <a:spcPts val="900"/>
              </a:spcAft>
              <a:defRPr sz="1500">
                <a:solidFill>
                  <a:srgbClr val="EBF2FA"/>
                </a:solidFill>
                <a:latin typeface="Aptos"/>
              </a:defRPr>
            </a:pPr>
            <a:r>
              <a:t>• Predict the most relevant cybercrime category.</a:t>
            </a:r>
          </a:p>
          <a:p>
            <a:pPr>
              <a:spcAft>
                <a:spcPts val="900"/>
              </a:spcAft>
              <a:defRPr sz="1500">
                <a:solidFill>
                  <a:srgbClr val="EBF2FA"/>
                </a:solidFill>
                <a:latin typeface="Aptos"/>
              </a:defRPr>
            </a:pPr>
            <a:r>
              <a:t>• Support faster initial complaint routing and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1663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BABBF"/>
                </a:solidFill>
                <a:latin typeface="Aptos"/>
              </a:rPr>
              <a:t>Potential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5102352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F2FA"/>
                </a:solidFill>
                <a:latin typeface="Aptos"/>
              </a:rPr>
              <a:t>Complaint desks • analysts • support teams • researchers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Dataset &amp;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Text + category labels are required for supervised multi-class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5331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Cybercrime Complaint / Incident Text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35331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6184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Kaggle / open-data / research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35331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Problem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61848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Multi-class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8600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4048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700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Use the selected dataset's verified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28600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4048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700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Complaint text + engineered text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286000"/>
            <a:ext cx="3474720" cy="841248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4048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6700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F2FA"/>
                </a:solidFill>
                <a:latin typeface="Aptos"/>
              </a:rPr>
              <a:t>Cybercrime category /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204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BF2FA"/>
                </a:solidFill>
                <a:latin typeface="Aptos"/>
              </a:rPr>
              <a:t>Sample dataset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77639"/>
            <a:ext cx="6766560" cy="438912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041648"/>
            <a:ext cx="6492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Aptos"/>
              </a:rPr>
              <a:t>Complaint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8" y="3977639"/>
            <a:ext cx="3977639" cy="438912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4041648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Aptos"/>
              </a:rPr>
              <a:t>Category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16552"/>
            <a:ext cx="6766560" cy="438912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480560"/>
            <a:ext cx="6492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“Fake account using my photos…”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8" y="4416552"/>
            <a:ext cx="3977639" cy="438912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4480560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Identity / Impersonation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855464"/>
            <a:ext cx="6766560" cy="43891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919472"/>
            <a:ext cx="6492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“Asked for OTP; money was withdrawn…”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8" y="4855464"/>
            <a:ext cx="3977639" cy="43891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4919472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Online Financial Fraud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4375"/>
            <a:ext cx="6766560" cy="438912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358383"/>
            <a:ext cx="6492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“Received malicious link via message…”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24928" y="5294375"/>
            <a:ext cx="3977639" cy="438912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5358383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Phishing / Scam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733288"/>
            <a:ext cx="6766560" cy="43891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797296"/>
            <a:ext cx="6492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“Account was accessed without permission…”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24928" y="5733288"/>
            <a:ext cx="3977639" cy="43891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5797296"/>
            <a:ext cx="3703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BF2FA"/>
                </a:solidFill>
                <a:latin typeface="Aptos"/>
              </a:rPr>
              <a:t>Unauthorized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B44B"/>
                </a:solidFill>
                <a:latin typeface="Aptos"/>
              </a:rPr>
              <a:t>Note: replace the placeholders above with the exact dataset name, source, record count, and verified sample from your selected dataset.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Data Preprocessing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From raw complaint text to model-ready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Missing
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14447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14447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14447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4447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Feature
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14447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325880"/>
            <a:ext cx="1572768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408176"/>
            <a:ext cx="15727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Feature
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423160"/>
            <a:ext cx="3429000" cy="324612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96012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706624"/>
            <a:ext cx="960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NLP 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24612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Category distribution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Complaint length distribution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Top words / n-grams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Missing &amp; duplicate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2423160"/>
            <a:ext cx="3474720" cy="324612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Category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24612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ABBF"/>
                </a:solidFill>
                <a:latin typeface="Aptos"/>
              </a:rPr>
              <a:t>Fraud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3246120"/>
            <a:ext cx="1728216" cy="182880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39312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ABBF"/>
                </a:solidFill>
                <a:latin typeface="Aptos"/>
              </a:rPr>
              <a:t>Phishing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3639312"/>
            <a:ext cx="1248156" cy="182880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03250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ABBF"/>
                </a:solidFill>
                <a:latin typeface="Aptos"/>
              </a:rPr>
              <a:t>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800" y="4032504"/>
            <a:ext cx="960120" cy="182880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42569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ABBF"/>
                </a:solidFill>
                <a:latin typeface="Aptos"/>
              </a:rPr>
              <a:t>Hacking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4425696"/>
            <a:ext cx="1497787" cy="182880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4818888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ABBF"/>
                </a:solidFill>
                <a:latin typeface="Aptos"/>
              </a:rPr>
              <a:t>Other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4818888"/>
            <a:ext cx="729691" cy="182880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55279" y="2423160"/>
            <a:ext cx="3611880" cy="324612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11312" y="2697480"/>
            <a:ext cx="1143000" cy="329184"/>
          </a:xfrm>
          <a:prstGeom prst="roundRect">
            <a:avLst/>
          </a:prstGeom>
          <a:solidFill>
            <a:srgbClr val="F5B44B"/>
          </a:solidFill>
          <a:ln>
            <a:solidFill>
              <a:srgbClr val="F5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270662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KEY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246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Class balance should be checked before training.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Text length can vary substantially across complaints.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Common terms and n-grams help reveal category patterns.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Rare / noisy tokens can be reduced during feature selection.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ML Models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Supervised multi-class text classification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264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Train-Test
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14264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7096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7096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Model
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1576" y="14264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Model
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14264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2646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234440"/>
            <a:ext cx="1508760" cy="713232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344168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514600"/>
            <a:ext cx="521208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2697480"/>
            <a:ext cx="178308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06624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LOGISTIC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17296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ABBF"/>
                </a:solidFill>
                <a:latin typeface="Aptos"/>
              </a:rPr>
              <a:t>Strong linear baseline for TF-IDF 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514600"/>
            <a:ext cx="521208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697480"/>
            <a:ext cx="1600200" cy="329184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706624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SVM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7296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ABBF"/>
                </a:solidFill>
                <a:latin typeface="Aptos"/>
              </a:rPr>
              <a:t>Effective for high-dimensional sparse text features.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023360"/>
            <a:ext cx="521208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206240"/>
            <a:ext cx="160020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15384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8172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ABBF"/>
                </a:solidFill>
                <a:latin typeface="Aptos"/>
              </a:rPr>
              <a:t>Captures nonlinear feature interactions.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023360"/>
            <a:ext cx="521208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206240"/>
            <a:ext cx="1600200" cy="329184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15384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XGBOOST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8172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ABBF"/>
                </a:solidFill>
                <a:latin typeface="Aptos"/>
              </a:rPr>
              <a:t>Boosting model for strong tabular/text-derived features.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7840"/>
            <a:ext cx="10789920" cy="658368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742432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Validation strategy: stratified cross-validation → hyperparameter tuning → hold-out test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Model Evaluation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Use measured results from the final trained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17320"/>
            <a:ext cx="27797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325880"/>
            <a:ext cx="1417320" cy="502920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41732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325880"/>
            <a:ext cx="1417320" cy="502920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6632" y="141732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1417320" cy="502920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1732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325880"/>
            <a:ext cx="1417320" cy="502920"/>
          </a:xfrm>
          <a:prstGeom prst="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141732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28800"/>
            <a:ext cx="292608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1920240"/>
            <a:ext cx="27797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82880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92024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82880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192024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2024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82880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192024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331720"/>
            <a:ext cx="292608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2423160"/>
            <a:ext cx="27797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SVM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33172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242316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33172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242316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33172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242316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33172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42316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834640"/>
            <a:ext cx="292608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1" y="2926080"/>
            <a:ext cx="27797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Random Forest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283464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292608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283464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56632" y="292608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83464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292608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834640"/>
            <a:ext cx="1417320" cy="502920"/>
          </a:xfrm>
          <a:prstGeom prst="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292608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337560"/>
            <a:ext cx="292608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" y="3429000"/>
            <a:ext cx="277977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333756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342900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333756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56632" y="342900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33756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342900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3337560"/>
            <a:ext cx="1417320" cy="502920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91272" y="3429000"/>
            <a:ext cx="127101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F2FA"/>
                </a:solidFill>
                <a:latin typeface="Apto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3977639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B44B"/>
                </a:solidFill>
                <a:latin typeface="Aptos"/>
              </a:rPr>
              <a:t>Why dashes?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941063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F2FA"/>
                </a:solidFill>
                <a:latin typeface="Aptos"/>
              </a:rPr>
              <a:t>Do not invent metrics. Insert the actual test-set results after training the models.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1325880"/>
            <a:ext cx="3749039" cy="178308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92440" y="1572768"/>
            <a:ext cx="150876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158191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CONFUSION MATRIX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2057400"/>
            <a:ext cx="566928" cy="256032"/>
          </a:xfrm>
          <a:prstGeom prst="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79" y="207568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080D19"/>
                </a:solidFill>
                <a:latin typeface="Aptos"/>
              </a:rPr>
              <a:t>TP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59" y="205740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23959" y="207568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9464040" y="205740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207568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237744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79" y="239572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8823959" y="2377440"/>
            <a:ext cx="566928" cy="256032"/>
          </a:xfrm>
          <a:prstGeom prst="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23959" y="239572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080D19"/>
                </a:solidFill>
                <a:latin typeface="Aptos"/>
              </a:rPr>
              <a:t>TP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64040" y="237744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64040" y="239572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8183879" y="269748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83879" y="271576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8823959" y="2697480"/>
            <a:ext cx="566928" cy="256032"/>
          </a:xfrm>
          <a:prstGeom prst="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23959" y="271576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9BABBF"/>
                </a:solidFill>
                <a:latin typeface="Aptos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9464040" y="2697480"/>
            <a:ext cx="566928" cy="256032"/>
          </a:xfrm>
          <a:prstGeom prst="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271576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080D19"/>
                </a:solidFill>
                <a:latin typeface="Aptos"/>
              </a:rPr>
              <a:t>TP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18120" y="3337560"/>
            <a:ext cx="3749039" cy="178308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092440" y="3584448"/>
            <a:ext cx="2103120" cy="329184"/>
          </a:xfrm>
          <a:prstGeom prst="roundRect">
            <a:avLst/>
          </a:prstGeom>
          <a:solidFill>
            <a:srgbClr val="F5B44B"/>
          </a:solidFill>
          <a:ln>
            <a:solidFill>
              <a:srgbClr val="F5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3593591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CROSS-VALIDATION &amp; TUNING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4069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EBF2FA"/>
                </a:solidFill>
                <a:latin typeface="Aptos"/>
              </a:defRPr>
            </a:pPr>
            <a:r>
              <a:t>• Stratified K-fold CV</a:t>
            </a:r>
          </a:p>
          <a:p>
            <a:pPr>
              <a:spcAft>
                <a:spcPts val="900"/>
              </a:spcAft>
              <a:defRPr sz="1100">
                <a:solidFill>
                  <a:srgbClr val="EBF2FA"/>
                </a:solidFill>
                <a:latin typeface="Aptos"/>
              </a:defRPr>
            </a:pPr>
            <a:r>
              <a:t>• GridSearchCV / RandomizedSearchCV</a:t>
            </a:r>
          </a:p>
          <a:p>
            <a:pPr>
              <a:spcAft>
                <a:spcPts val="900"/>
              </a:spcAft>
              <a:defRPr sz="1100">
                <a:solidFill>
                  <a:srgbClr val="EBF2FA"/>
                </a:solidFill>
                <a:latin typeface="Aptos"/>
              </a:defRPr>
            </a:pPr>
            <a:r>
              <a:t>• Compare mean CV F1</a:t>
            </a:r>
          </a:p>
          <a:p>
            <a:pPr>
              <a:spcAft>
                <a:spcPts val="900"/>
              </a:spcAft>
              <a:defRPr sz="1100">
                <a:solidFill>
                  <a:srgbClr val="EBF2FA"/>
                </a:solidFill>
                <a:latin typeface="Aptos"/>
              </a:defRPr>
            </a:pPr>
            <a:r>
              <a:t>• Evaluate final model once on test set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18120" y="5349240"/>
            <a:ext cx="3749039" cy="713232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51383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BEST MODEL: SELECT USING VERIFIED TEST RESULTS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Final Solution &amp;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Prediction as an initial classification and routing aid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874519" cy="82296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User Complaint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4904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234440"/>
            <a:ext cx="1874519" cy="82296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41732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NLP
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4904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234440"/>
            <a:ext cx="1874519" cy="82296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41732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Best ML
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4904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D2B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234440"/>
            <a:ext cx="1874519" cy="82296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1732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Predicted
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5623560" cy="301752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346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ED2B4"/>
                </a:solidFill>
                <a:latin typeface="Aptos"/>
              </a:rPr>
              <a:t>CYBERCRIME COMPLAINT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Enter complaint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39312"/>
            <a:ext cx="5029200" cy="82296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BF2FA"/>
                </a:solidFill>
                <a:latin typeface="Aptos"/>
              </a:rPr>
              <a:t>Someone asked for my OTP and money was
withdrawn from my account.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54880"/>
            <a:ext cx="114300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6402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7316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BABBF"/>
                </a:solidFill>
                <a:latin typeface="Aptos"/>
              </a:rPr>
              <a:t>Predicted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70916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ED2B4"/>
                </a:solidFill>
                <a:latin typeface="Aptos"/>
              </a:rPr>
              <a:t>Online Financial Fraud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560320"/>
            <a:ext cx="5029200" cy="301752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12280" y="2834640"/>
            <a:ext cx="1600200" cy="329184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843784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REAL-WORLD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383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Organize large volumes of complaints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Route cases to appropriate teams for initial handling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Reduce repetitive manual categorization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Generate category-level statistics and trends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Support faster first-stage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257800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B44B"/>
                </a:solidFill>
                <a:latin typeface="Aptos"/>
              </a:rPr>
              <a:t>Important: prediction supports triage; it does not establish whether a crime occurred or replace investigators/legal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ABBF"/>
                </a:solidFill>
                <a:latin typeface="Aptos"/>
              </a:rPr>
              <a:t>From unstructured complaint text to an actionable classification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03520" cy="4434840"/>
          </a:xfrm>
          <a:prstGeom prst="roundRect">
            <a:avLst/>
          </a:prstGeom>
          <a:solidFill>
            <a:srgbClr val="111A2B"/>
          </a:solidFill>
          <a:ln>
            <a:solidFill>
              <a:srgbClr val="11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1097280" cy="329184"/>
          </a:xfrm>
          <a:prstGeom prst="roundRect">
            <a:avLst/>
          </a:prstGeom>
          <a:solidFill>
            <a:srgbClr val="3ED2B4"/>
          </a:solidFill>
          <a:ln>
            <a:solidFill>
              <a:srgbClr val="3E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Built an NLP-based multi-class cybercrime complaint classification concept.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Applied text cleaning, tokenization, lemmatization and TF-IDF feature extraction.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Compared Logistic Regression, SVM, Random Forest and XGBoost.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Use cross-validation and tuning to select the model based on measured performance.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Deploy through a simple Gradio or Streamlit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394960" cy="4434840"/>
          </a:xfrm>
          <a:prstGeom prst="roundRect">
            <a:avLst/>
          </a:prstGeom>
          <a:solidFill>
            <a:srgbClr val="162237"/>
          </a:solidFill>
          <a:ln>
            <a:solidFill>
              <a:srgbClr val="16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572768"/>
            <a:ext cx="1234440" cy="329184"/>
          </a:xfrm>
          <a:prstGeom prst="roundRect">
            <a:avLst/>
          </a:prstGeom>
          <a:solidFill>
            <a:srgbClr val="5391FF"/>
          </a:solidFill>
          <a:ln>
            <a:solidFill>
              <a:srgbClr val="53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D19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4805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Add Malayalam + English multilingual support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Use transformer models such as BERT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Add automatic entity extraction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Integrate real-time complaint systems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Build a cybercrime trend dashboard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Continuously retrain with new labeled complaints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Deploy to cloud / web / mobile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9893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ED2B4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63825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BABBF"/>
                </a:solidFill>
                <a:latin typeface="Aptos"/>
              </a:rPr>
              <a:t>Questions &amp; Answers?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BABB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